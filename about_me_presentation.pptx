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Me - A Cosmic Dreamer" id="{4271E86E-C12B-4E90-8F43-69CDB130D9FD}">
          <p14:sldIdLst>
            <p14:sldId id="2561"/>
          </p14:sldIdLst>
        </p14:section>
        <p14:section name="Introduction" id="{D575F013-AA42-40CD-BAC6-6A58F01E9F29}">
          <p14:sldIdLst>
            <p14:sldId id="2562"/>
            <p14:sldId id="2563"/>
          </p14:sldIdLst>
        </p14:section>
        <p14:section name="Favorite Time" id="{82CB6BB9-85B7-4C02-B991-A18BCF525101}">
          <p14:sldIdLst>
            <p14:sldId id="2564"/>
            <p14:sldId id="2565"/>
          </p14:sldIdLst>
        </p14:section>
        <p14:section name="Identity" id="{D86995C8-3F0B-464E-A16B-E98A5666C0D6}">
          <p14:sldIdLst>
            <p14:sldId id="2566"/>
            <p14:sldId id="2567"/>
          </p14:sldIdLst>
        </p14:section>
        <p14:section name="Dream Philosophy" id="{1F455A67-19CF-47F8-83FF-0A30C2B741E9}">
          <p14:sldIdLst>
            <p14:sldId id="2568"/>
            <p14:sldId id="2569"/>
          </p14:sldIdLst>
        </p14:section>
        <p14:section name="My Balance" id="{3120EFC5-028A-4879-AEFB-C09F66FB3AF5}">
          <p14:sldIdLst>
            <p14:sldId id="2570"/>
            <p14:sldId id="2571"/>
          </p14:sldIdLst>
        </p14:section>
        <p14:section name="My Belief" id="{33C01A1C-24D7-4DE1-B453-D186AAFE9ECE}">
          <p14:sldIdLst>
            <p14:sldId id="2572"/>
            <p14:sldId id="2573"/>
          </p14:sldIdLst>
        </p14:section>
        <p14:section name="Closing Thoughts" id="{5B002078-3CD3-4800-B700-A45BF2F00D30}">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8CB17-CB8F-4CB0-8FA2-7BAA1821C999}" v="18" dt="2025-11-14T03:27:29.510"/>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7" autoAdjust="0"/>
    <p:restoredTop sz="94468"/>
  </p:normalViewPr>
  <p:slideViewPr>
    <p:cSldViewPr snapToGrid="0">
      <p:cViewPr varScale="1">
        <p:scale>
          <a:sx n="70" d="100"/>
          <a:sy n="70" d="100"/>
        </p:scale>
        <p:origin x="520" y="52"/>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11/14/2025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729657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Me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766885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offers a glimpse into the essence of who I am, shaped by my thoughts, emotions, and philosophies. It is a journey through my favorite moments, my identity, my dreams, and my beliefs. Each slide reflects a part of my soul, revealing how I perceive life and navigate its absurdities. Through poetic expressions and introspective reflections, I aim to share the unique lens through which I view the world. This is not just a presentation; it is a narrative of my inner universe, where dreams reign supreme and love whispers quietly amidst chaos.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83166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Dusk and November</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844481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Dusk is my favorite time of the day, a moment when the world transitions from light to darkness, embodying the beauty of change and the serenity of endings. November, my favorite month, encapsulates this feeling perfectly. It is a time of reflection, of embracing the absurdity of life, and finding peace in its unpredictability. The fading light of dusk symbolizes the quietude I seek, a pause in the chaos where I can truly connect with myself. November, with its cool air and introspective ambiance, becomes a canvas for my thoughts and dreams. Together, dusk and November represent my sanctuary, a space where I can appreciate the poetic nature of existence.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43561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Cosmic Dread Lover</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455478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 identify as the cosmic dread lover, a being who embraces the vastness and mystery of the universe while acknowledging the existential dread that accompanies it. This identity is rooted in a deep appreciation for the absurdity of life and a willingness to find beauty within it. I do not shy away from the darkness; instead, I find love and meaning in it. The cosmos, with its infinite possibilities and unknowns, mirrors my inner world—complex, enigmatic, and profoundly poetic. To be a cosmic dread lover is to dance with uncertainty, to cherish fleeting moments, and to love deeply despite the chaos.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536442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Resilience in Dreams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484499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Dreaming is an integral part of my existence. Even when life betrays me, I continue to dream. Even when dreams abandon me, I hold onto the act of dreaming. This resilience is not born out of naivety but from a profound belief in the power of imagination and hope. Dreams are my refuge, my guiding light in times of despair. They allow me to transcend reality and envision a world where love, clarity, and peace prevail. My philosophy is simple yet powerful: never stop dreaming, for dreams are the essence of life and the foundation of my spirit.</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62131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Dreams vs Work</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041283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 often find myself dreaming too much and working too little. This imbalance is not a flaw but a reflection of my priorities. I value introspection, creativity, and emotional depth over productivity and routine. While society may measure success through work, I measure it through the richness of my inner life. My dreams fuel my passion, inspire my thoughts, and shape my worldview. They are not distractions but essential components of my being. By embracing this balance, I allow myself to live authentically, guided by my dreams rather than constrained by expectations.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388443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Modern Luxury</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697453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 believe that modern luxury is the ability to think clearly, sleep deeply, move slowly, and love quietly in a world designed to prevent all four. This belief stems from a desire to reclaim simplicity and mindfulness in an increasingly chaotic and fast-paced world. Clear thinking allows me to navigate life with purpose; deep sleep rejuvenates my soul; slow movement fosters presence; and quiet love nurtures my relationships. These luxuries are rare yet essential, offering a path to true fulfillment. In a society that values speed and noise, I choose clarity, rest, grace, and intimacy as my treasures.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993406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Embracing Absurdity</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299791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Life is absurd, unpredictable, and often challenging. Yet, I embrace it with open arms, guided by dreams and quiet love. This acceptance allows me to find joy in the chaos and meaning in the madness. I do not seek perfection or certainty; instead, I cherish the moments of clarity, the whispers of love, and the sparks of imagination. My journey is one of introspection, resilience, and poetic expression. Through this presentation, I hope to share a piece of my soul and inspire others to dream, love, and live authentically amidst the absurdity of life.</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37205174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11/14/2025</a:t>
            </a:fld>
            <a:endParaRPr lang="en-US" dirty="0"/>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dirty="0"/>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11/14/2025</a:t>
            </a:fld>
            <a:endParaRPr lang="en-US" dirty="0"/>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11/14/2025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11/14/2025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11/14/2025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11/14/2025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11/14/2025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11/14/2025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11/14/2025</a:t>
            </a:fld>
            <a:endParaRPr lang="en-US" dirty="0"/>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11/14/2025</a:t>
            </a:fld>
            <a:endParaRPr lang="en-US" dirty="0"/>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dirty="0"/>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11/14/2025</a:t>
            </a:fld>
            <a:endParaRPr lang="en-US" dirty="0"/>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11/14/2025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11/14/2025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11/14/2025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11/14/2025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dirty="0"/>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11/14/2025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11/14/2025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11/14/2025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11/14/2025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11/14/2025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dirty="0"/>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11/14/2025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11/14/2025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11/14/2025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11/14/2025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11/14/2025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11/14/2025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11/14/2025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11/14/2025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11/14/2025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5A76-9C86-B2DD-A5F8-47FB24AB46CD}"/>
              </a:ext>
            </a:extLst>
          </p:cNvPr>
          <p:cNvSpPr>
            <a:spLocks noGrp="1"/>
          </p:cNvSpPr>
          <p:nvPr>
            <p:ph type="title"/>
          </p:nvPr>
        </p:nvSpPr>
        <p:spPr>
          <a:xfrm>
            <a:off x="793236" y="837735"/>
            <a:ext cx="10643616" cy="3346704"/>
          </a:xfrm>
        </p:spPr>
        <p:txBody>
          <a:bodyPr anchor="t">
            <a:normAutofit/>
          </a:bodyPr>
          <a:lstStyle/>
          <a:p>
            <a:r>
              <a:rPr lang="en-US"/>
              <a:t>About Me - A Cosmic Dreamer</a:t>
            </a:r>
          </a:p>
        </p:txBody>
      </p:sp>
      <p:sp>
        <p:nvSpPr>
          <p:cNvPr id="3" name="Subtitle 2">
            <a:extLst>
              <a:ext uri="{FF2B5EF4-FFF2-40B4-BE49-F238E27FC236}">
                <a16:creationId xmlns:a16="http://schemas.microsoft.com/office/drawing/2014/main" id="{9B109C8E-2D9F-AFC0-46A6-8B8306FC3DF9}"/>
              </a:ext>
            </a:extLst>
          </p:cNvPr>
          <p:cNvSpPr>
            <a:spLocks noGrp="1"/>
          </p:cNvSpPr>
          <p:nvPr>
            <p:ph type="subTitle" idx="1"/>
          </p:nvPr>
        </p:nvSpPr>
        <p:spPr>
          <a:xfrm>
            <a:off x="795528" y="4824760"/>
            <a:ext cx="10641324" cy="1194128"/>
          </a:xfrm>
        </p:spPr>
        <p:txBody>
          <a:bodyPr anchor="b">
            <a:normAutofit/>
          </a:bodyPr>
          <a:lstStyle/>
          <a:p>
            <a:r>
              <a:rPr lang="en-US"/>
              <a:t>By Arka Provo Pal</a:t>
            </a:r>
            <a:endParaRPr lang="en-US" dirty="0"/>
          </a:p>
        </p:txBody>
      </p:sp>
    </p:spTree>
    <p:extLst>
      <p:ext uri="{BB962C8B-B14F-4D97-AF65-F5344CB8AC3E}">
        <p14:creationId xmlns:p14="http://schemas.microsoft.com/office/powerpoint/2010/main" val="19223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F298-9522-0080-A9DB-A870CD6D43A9}"/>
              </a:ext>
            </a:extLst>
          </p:cNvPr>
          <p:cNvSpPr>
            <a:spLocks noGrp="1"/>
          </p:cNvSpPr>
          <p:nvPr>
            <p:ph type="title"/>
          </p:nvPr>
        </p:nvSpPr>
        <p:spPr>
          <a:xfrm>
            <a:off x="1474076" y="1359775"/>
            <a:ext cx="7909560" cy="4334256"/>
          </a:xfrm>
        </p:spPr>
        <p:txBody>
          <a:bodyPr anchor="b">
            <a:normAutofit/>
          </a:bodyPr>
          <a:lstStyle/>
          <a:p>
            <a:r>
              <a:rPr lang="en-US"/>
              <a:t>Introduction</a:t>
            </a:r>
          </a:p>
        </p:txBody>
      </p:sp>
    </p:spTree>
    <p:extLst>
      <p:ext uri="{BB962C8B-B14F-4D97-AF65-F5344CB8AC3E}">
        <p14:creationId xmlns:p14="http://schemas.microsoft.com/office/powerpoint/2010/main" val="2290943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63D00-481C-EC4E-24AC-237736504E0F}"/>
              </a:ext>
            </a:extLst>
          </p:cNvPr>
          <p:cNvSpPr>
            <a:spLocks noGrp="1"/>
          </p:cNvSpPr>
          <p:nvPr>
            <p:ph type="title"/>
          </p:nvPr>
        </p:nvSpPr>
        <p:spPr>
          <a:xfrm>
            <a:off x="7204306" y="817137"/>
            <a:ext cx="4192166" cy="1527048"/>
          </a:xfrm>
        </p:spPr>
        <p:txBody>
          <a:bodyPr anchor="b">
            <a:normAutofit/>
          </a:bodyPr>
          <a:lstStyle/>
          <a:p>
            <a:r>
              <a:rPr lang="en-US"/>
              <a:t>About Me</a:t>
            </a:r>
          </a:p>
        </p:txBody>
      </p:sp>
      <p:pic>
        <p:nvPicPr>
          <p:cNvPr id="5" name="Content Placeholder 4" descr="Fluid Acrylic modern art painting by nkbimages">
            <a:extLst>
              <a:ext uri="{FF2B5EF4-FFF2-40B4-BE49-F238E27FC236}">
                <a16:creationId xmlns:a16="http://schemas.microsoft.com/office/drawing/2014/main" id="{AB62FE48-7BEB-445C-A36C-2F515DD8C1F7}"/>
              </a:ext>
            </a:extLst>
          </p:cNvPr>
          <p:cNvPicPr>
            <a:picLocks noGrp="1" noChangeAspect="1"/>
          </p:cNvPicPr>
          <p:nvPr>
            <p:ph type="pic" sz="quarter" idx="18"/>
          </p:nvPr>
        </p:nvPicPr>
        <p:blipFill>
          <a:blip r:embed="rId3"/>
          <a:stretch/>
        </p:blipFill>
        <p:spPr>
          <a:xfrm>
            <a:off x="349839" y="394541"/>
            <a:ext cx="6272784" cy="6068918"/>
          </a:xfrm>
          <a:prstGeom prst="rect">
            <a:avLst/>
          </a:prstGeom>
          <a:noFill/>
        </p:spPr>
      </p:pic>
      <p:sp>
        <p:nvSpPr>
          <p:cNvPr id="4" name="Content Placeholder 3">
            <a:extLst>
              <a:ext uri="{FF2B5EF4-FFF2-40B4-BE49-F238E27FC236}">
                <a16:creationId xmlns:a16="http://schemas.microsoft.com/office/drawing/2014/main" id="{E793F239-6DF6-D4C6-8D12-A3A7CD8EAB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lnSpc>
                <a:spcPct val="90000"/>
              </a:lnSpc>
              <a:spcBef>
                <a:spcPts val="2500"/>
              </a:spcBef>
              <a:buFont typeface="Arial" panose="020B0604020202020204" pitchFamily="34" charset="0"/>
              <a:buNone/>
            </a:pPr>
            <a:r>
              <a:rPr lang="en-US" b="1"/>
              <a:t>Personal Identity</a:t>
            </a:r>
          </a:p>
          <a:p>
            <a:pPr marL="0" lvl="1" indent="0">
              <a:lnSpc>
                <a:spcPct val="90000"/>
              </a:lnSpc>
              <a:buFont typeface="Arial" panose="020B0604020202020204" pitchFamily="34" charset="0"/>
              <a:buNone/>
            </a:pPr>
            <a:r>
              <a:t>The presentation reveals a personal journey shaped by inner thoughts, emotions, and philosophical beliefs.</a:t>
            </a:r>
            <a:endParaRPr lang="en-US"/>
          </a:p>
          <a:p>
            <a:pPr marL="0" indent="0">
              <a:lnSpc>
                <a:spcPct val="90000"/>
              </a:lnSpc>
              <a:spcBef>
                <a:spcPts val="2500"/>
              </a:spcBef>
              <a:buFont typeface="Arial" panose="020B0604020202020204" pitchFamily="34" charset="0"/>
              <a:buNone/>
            </a:pPr>
            <a:r>
              <a:rPr lang="en-US" b="1"/>
              <a:t>Dreams and Aspirations</a:t>
            </a:r>
          </a:p>
          <a:p>
            <a:pPr marL="0" lvl="1" indent="0">
              <a:lnSpc>
                <a:spcPct val="90000"/>
              </a:lnSpc>
              <a:buFont typeface="Arial" panose="020B0604020202020204" pitchFamily="34" charset="0"/>
              <a:buNone/>
            </a:pPr>
            <a:r>
              <a:t>Dreams and hopes play a central role, guiding the narrative of the inner universe shared in the presentation.</a:t>
            </a:r>
            <a:endParaRPr lang="en-US"/>
          </a:p>
          <a:p>
            <a:pPr marL="0" indent="0">
              <a:lnSpc>
                <a:spcPct val="90000"/>
              </a:lnSpc>
              <a:spcBef>
                <a:spcPts val="2500"/>
              </a:spcBef>
              <a:buFont typeface="Arial" panose="020B0604020202020204" pitchFamily="34" charset="0"/>
              <a:buNone/>
            </a:pPr>
            <a:r>
              <a:rPr lang="en-US" b="1"/>
              <a:t>Emotional and Poetic Expression</a:t>
            </a:r>
          </a:p>
          <a:p>
            <a:pPr marL="0" lvl="1" indent="0">
              <a:lnSpc>
                <a:spcPct val="90000"/>
              </a:lnSpc>
              <a:buFont typeface="Arial" panose="020B0604020202020204" pitchFamily="34" charset="0"/>
              <a:buNone/>
            </a:pPr>
            <a:r>
              <a:t>Poetic and emotional reflections express how life’s complexities and love are perceived quietly amidst chaos.</a:t>
            </a:r>
            <a:endParaRPr lang="en-US"/>
          </a:p>
        </p:txBody>
      </p:sp>
    </p:spTree>
    <p:extLst>
      <p:ext uri="{BB962C8B-B14F-4D97-AF65-F5344CB8AC3E}">
        <p14:creationId xmlns:p14="http://schemas.microsoft.com/office/powerpoint/2010/main" val="22986716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0B4A-396C-7436-4477-ECC363B1330F}"/>
              </a:ext>
            </a:extLst>
          </p:cNvPr>
          <p:cNvSpPr>
            <a:spLocks noGrp="1"/>
          </p:cNvSpPr>
          <p:nvPr>
            <p:ph type="title"/>
          </p:nvPr>
        </p:nvSpPr>
        <p:spPr>
          <a:xfrm>
            <a:off x="1474076" y="1359775"/>
            <a:ext cx="7909560" cy="4334256"/>
          </a:xfrm>
        </p:spPr>
        <p:txBody>
          <a:bodyPr anchor="b">
            <a:normAutofit/>
          </a:bodyPr>
          <a:lstStyle/>
          <a:p>
            <a:r>
              <a:rPr lang="en-US"/>
              <a:t>Favorite Time</a:t>
            </a:r>
          </a:p>
        </p:txBody>
      </p:sp>
    </p:spTree>
    <p:extLst>
      <p:ext uri="{BB962C8B-B14F-4D97-AF65-F5344CB8AC3E}">
        <p14:creationId xmlns:p14="http://schemas.microsoft.com/office/powerpoint/2010/main" val="28599949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10322-5050-F76A-051F-701CDE3D27DF}"/>
              </a:ext>
            </a:extLst>
          </p:cNvPr>
          <p:cNvSpPr>
            <a:spLocks noGrp="1"/>
          </p:cNvSpPr>
          <p:nvPr>
            <p:ph type="title"/>
          </p:nvPr>
        </p:nvSpPr>
        <p:spPr>
          <a:xfrm>
            <a:off x="7204306" y="817137"/>
            <a:ext cx="4192166" cy="1527048"/>
          </a:xfrm>
        </p:spPr>
        <p:txBody>
          <a:bodyPr anchor="b">
            <a:normAutofit/>
          </a:bodyPr>
          <a:lstStyle/>
          <a:p>
            <a:r>
              <a:rPr lang="en-US"/>
              <a:t>Dusk and November</a:t>
            </a:r>
          </a:p>
        </p:txBody>
      </p:sp>
      <p:pic>
        <p:nvPicPr>
          <p:cNvPr id="5" name="Content Placeholder 4" descr="colourful apple orchard">
            <a:extLst>
              <a:ext uri="{FF2B5EF4-FFF2-40B4-BE49-F238E27FC236}">
                <a16:creationId xmlns:a16="http://schemas.microsoft.com/office/drawing/2014/main" id="{5DA1623C-B205-4961-8804-1C64759636FE}"/>
              </a:ext>
            </a:extLst>
          </p:cNvPr>
          <p:cNvPicPr>
            <a:picLocks noGrp="1" noChangeAspect="1"/>
          </p:cNvPicPr>
          <p:nvPr>
            <p:ph type="pic" sz="quarter" idx="18"/>
          </p:nvPr>
        </p:nvPicPr>
        <p:blipFill>
          <a:blip r:embed="rId3"/>
          <a:srcRect l="9127" r="22631" b="1"/>
          <a:stretch>
            <a:fillRect/>
          </a:stretch>
        </p:blipFill>
        <p:spPr>
          <a:xfrm>
            <a:off x="349839" y="361188"/>
            <a:ext cx="6272784" cy="6135624"/>
          </a:xfrm>
          <a:prstGeom prst="rect">
            <a:avLst/>
          </a:prstGeom>
          <a:noFill/>
        </p:spPr>
      </p:pic>
      <p:sp>
        <p:nvSpPr>
          <p:cNvPr id="4" name="Content Placeholder 3">
            <a:extLst>
              <a:ext uri="{FF2B5EF4-FFF2-40B4-BE49-F238E27FC236}">
                <a16:creationId xmlns:a16="http://schemas.microsoft.com/office/drawing/2014/main" id="{8A72B508-B5BF-72A9-1475-E5F41F8D56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lnSpc>
                <a:spcPct val="90000"/>
              </a:lnSpc>
              <a:spcBef>
                <a:spcPts val="2500"/>
              </a:spcBef>
              <a:buFont typeface="Arial" panose="020B0604020202020204" pitchFamily="34" charset="0"/>
              <a:buNone/>
            </a:pPr>
            <a:r>
              <a:rPr lang="en-US" b="1"/>
              <a:t>The Beauty of Dusk</a:t>
            </a:r>
          </a:p>
          <a:p>
            <a:pPr marL="0" lvl="1" indent="0">
              <a:lnSpc>
                <a:spcPct val="90000"/>
              </a:lnSpc>
              <a:buFont typeface="Arial" panose="020B0604020202020204" pitchFamily="34" charset="0"/>
              <a:buNone/>
            </a:pPr>
            <a:r>
              <a:t>Dusk marks the serene transition from daylight to darkness, symbolizing change and peaceful endings.</a:t>
            </a:r>
            <a:endParaRPr lang="en-US"/>
          </a:p>
          <a:p>
            <a:pPr marL="0" indent="0">
              <a:lnSpc>
                <a:spcPct val="90000"/>
              </a:lnSpc>
              <a:spcBef>
                <a:spcPts val="2500"/>
              </a:spcBef>
              <a:buFont typeface="Arial" panose="020B0604020202020204" pitchFamily="34" charset="0"/>
              <a:buNone/>
            </a:pPr>
            <a:r>
              <a:rPr lang="en-US" b="1"/>
              <a:t>November’s Reflective Mood</a:t>
            </a:r>
          </a:p>
          <a:p>
            <a:pPr marL="0" lvl="1" indent="0">
              <a:lnSpc>
                <a:spcPct val="90000"/>
              </a:lnSpc>
              <a:buFont typeface="Arial" panose="020B0604020202020204" pitchFamily="34" charset="0"/>
              <a:buNone/>
            </a:pPr>
            <a:r>
              <a:t>November’s cool air and introspective ambiance inspire reflection and acceptance of life’s unpredictability.</a:t>
            </a:r>
            <a:endParaRPr lang="en-US"/>
          </a:p>
          <a:p>
            <a:pPr marL="0" indent="0">
              <a:lnSpc>
                <a:spcPct val="90000"/>
              </a:lnSpc>
              <a:spcBef>
                <a:spcPts val="2500"/>
              </a:spcBef>
              <a:buFont typeface="Arial" panose="020B0604020202020204" pitchFamily="34" charset="0"/>
              <a:buNone/>
            </a:pPr>
            <a:r>
              <a:rPr lang="en-US" b="1"/>
              <a:t>Sanctuary of Mind</a:t>
            </a:r>
          </a:p>
          <a:p>
            <a:pPr marL="0" lvl="1" indent="0">
              <a:lnSpc>
                <a:spcPct val="90000"/>
              </a:lnSpc>
              <a:buFont typeface="Arial" panose="020B0604020202020204" pitchFamily="34" charset="0"/>
              <a:buNone/>
            </a:pPr>
            <a:r>
              <a:t>Together, dusk and November create a peaceful sanctuary for introspection and poetic appreciation of life.</a:t>
            </a:r>
            <a:endParaRPr lang="en-US"/>
          </a:p>
        </p:txBody>
      </p:sp>
    </p:spTree>
    <p:extLst>
      <p:ext uri="{BB962C8B-B14F-4D97-AF65-F5344CB8AC3E}">
        <p14:creationId xmlns:p14="http://schemas.microsoft.com/office/powerpoint/2010/main" val="4280688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A452-2135-1742-3C41-E76BACBAE2DA}"/>
              </a:ext>
            </a:extLst>
          </p:cNvPr>
          <p:cNvSpPr>
            <a:spLocks noGrp="1"/>
          </p:cNvSpPr>
          <p:nvPr>
            <p:ph type="title"/>
          </p:nvPr>
        </p:nvSpPr>
        <p:spPr>
          <a:xfrm>
            <a:off x="1474076" y="1359775"/>
            <a:ext cx="7909560" cy="4334256"/>
          </a:xfrm>
        </p:spPr>
        <p:txBody>
          <a:bodyPr anchor="b">
            <a:normAutofit/>
          </a:bodyPr>
          <a:lstStyle/>
          <a:p>
            <a:r>
              <a:rPr lang="en-US"/>
              <a:t>Identity</a:t>
            </a:r>
          </a:p>
        </p:txBody>
      </p:sp>
    </p:spTree>
    <p:extLst>
      <p:ext uri="{BB962C8B-B14F-4D97-AF65-F5344CB8AC3E}">
        <p14:creationId xmlns:p14="http://schemas.microsoft.com/office/powerpoint/2010/main" val="1903750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CACB9-101A-2DBB-F2D3-0B000E2C3E43}"/>
              </a:ext>
            </a:extLst>
          </p:cNvPr>
          <p:cNvSpPr>
            <a:spLocks noGrp="1"/>
          </p:cNvSpPr>
          <p:nvPr>
            <p:ph type="title"/>
          </p:nvPr>
        </p:nvSpPr>
        <p:spPr>
          <a:xfrm>
            <a:off x="7204306" y="817137"/>
            <a:ext cx="4192166" cy="1527048"/>
          </a:xfrm>
        </p:spPr>
        <p:txBody>
          <a:bodyPr anchor="b">
            <a:normAutofit/>
          </a:bodyPr>
          <a:lstStyle/>
          <a:p>
            <a:r>
              <a:rPr lang="en-US"/>
              <a:t>Cosmic Dread Lover</a:t>
            </a:r>
          </a:p>
        </p:txBody>
      </p:sp>
      <p:pic>
        <p:nvPicPr>
          <p:cNvPr id="5" name="Content Placeholder 4" descr="Abstract Background">
            <a:extLst>
              <a:ext uri="{FF2B5EF4-FFF2-40B4-BE49-F238E27FC236}">
                <a16:creationId xmlns:a16="http://schemas.microsoft.com/office/drawing/2014/main" id="{D5BD64E8-E038-4D3C-A7A9-A99DEF715CCC}"/>
              </a:ext>
            </a:extLst>
          </p:cNvPr>
          <p:cNvPicPr>
            <a:picLocks noGrp="1" noChangeAspect="1"/>
          </p:cNvPicPr>
          <p:nvPr>
            <p:ph type="pic" sz="quarter" idx="18"/>
          </p:nvPr>
        </p:nvPicPr>
        <p:blipFill>
          <a:blip r:embed="rId3"/>
          <a:srcRect l="25281" r="17210" b="-2"/>
          <a:stretch>
            <a:fillRect/>
          </a:stretch>
        </p:blipFill>
        <p:spPr>
          <a:xfrm>
            <a:off x="349839" y="361188"/>
            <a:ext cx="6272784" cy="6135624"/>
          </a:xfrm>
          <a:prstGeom prst="rect">
            <a:avLst/>
          </a:prstGeom>
          <a:noFill/>
        </p:spPr>
      </p:pic>
      <p:sp>
        <p:nvSpPr>
          <p:cNvPr id="4" name="Content Placeholder 3">
            <a:extLst>
              <a:ext uri="{FF2B5EF4-FFF2-40B4-BE49-F238E27FC236}">
                <a16:creationId xmlns:a16="http://schemas.microsoft.com/office/drawing/2014/main" id="{E93353BC-B213-E694-9E25-B036E13959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spcBef>
                <a:spcPts val="2500"/>
              </a:spcBef>
              <a:buFont typeface="Arial" panose="020B0604020202020204" pitchFamily="34" charset="0"/>
              <a:buNone/>
            </a:pPr>
            <a:r>
              <a:rPr lang="en-US" b="1"/>
              <a:t>Embracing Cosmic Vastness</a:t>
            </a:r>
          </a:p>
          <a:p>
            <a:pPr marL="0" lvl="1" indent="0">
              <a:buFont typeface="Arial" panose="020B0604020202020204" pitchFamily="34" charset="0"/>
              <a:buNone/>
            </a:pPr>
            <a:r>
              <a:t>Acceptance of the infinite universe and its mysteries highlights wonder amidst existential dread.</a:t>
            </a:r>
            <a:endParaRPr lang="en-US"/>
          </a:p>
          <a:p>
            <a:pPr marL="0" indent="0">
              <a:spcBef>
                <a:spcPts val="2500"/>
              </a:spcBef>
              <a:buFont typeface="Arial" panose="020B0604020202020204" pitchFamily="34" charset="0"/>
              <a:buNone/>
            </a:pPr>
            <a:r>
              <a:rPr lang="en-US" b="1"/>
              <a:t>Finding Beauty in Absurdity</a:t>
            </a:r>
          </a:p>
          <a:p>
            <a:pPr marL="0" lvl="1" indent="0">
              <a:buFont typeface="Arial" panose="020B0604020202020204" pitchFamily="34" charset="0"/>
              <a:buNone/>
            </a:pPr>
            <a:r>
              <a:t>Appreciation for life's absurdity involves recognizing its beauty despite dark realities.</a:t>
            </a:r>
            <a:endParaRPr lang="en-US"/>
          </a:p>
          <a:p>
            <a:pPr marL="0" indent="0">
              <a:spcBef>
                <a:spcPts val="2500"/>
              </a:spcBef>
              <a:buFont typeface="Arial" panose="020B0604020202020204" pitchFamily="34" charset="0"/>
              <a:buNone/>
            </a:pPr>
            <a:r>
              <a:rPr lang="en-US" b="1"/>
              <a:t>Dancing with Uncertainty</a:t>
            </a:r>
          </a:p>
          <a:p>
            <a:pPr marL="0" lvl="1" indent="0">
              <a:buFont typeface="Arial" panose="020B0604020202020204" pitchFamily="34" charset="0"/>
              <a:buNone/>
            </a:pPr>
            <a:r>
              <a:t>Cherishing fleeting moments and loving deeply despite life's unpredictable chaos.</a:t>
            </a:r>
            <a:endParaRPr lang="en-US"/>
          </a:p>
        </p:txBody>
      </p:sp>
    </p:spTree>
    <p:extLst>
      <p:ext uri="{BB962C8B-B14F-4D97-AF65-F5344CB8AC3E}">
        <p14:creationId xmlns:p14="http://schemas.microsoft.com/office/powerpoint/2010/main" val="3628219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64B2-7D5F-0701-1E62-71CF36DF487F}"/>
              </a:ext>
            </a:extLst>
          </p:cNvPr>
          <p:cNvSpPr>
            <a:spLocks noGrp="1"/>
          </p:cNvSpPr>
          <p:nvPr>
            <p:ph type="title"/>
          </p:nvPr>
        </p:nvSpPr>
        <p:spPr>
          <a:xfrm>
            <a:off x="1474076" y="1359775"/>
            <a:ext cx="7909560" cy="4334256"/>
          </a:xfrm>
        </p:spPr>
        <p:txBody>
          <a:bodyPr anchor="b">
            <a:normAutofit/>
          </a:bodyPr>
          <a:lstStyle/>
          <a:p>
            <a:r>
              <a:rPr lang="en-US"/>
              <a:t>Dream Philosophy</a:t>
            </a:r>
          </a:p>
        </p:txBody>
      </p:sp>
    </p:spTree>
    <p:extLst>
      <p:ext uri="{BB962C8B-B14F-4D97-AF65-F5344CB8AC3E}">
        <p14:creationId xmlns:p14="http://schemas.microsoft.com/office/powerpoint/2010/main" val="2357955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67CE-EF45-D47D-7F4D-93E74984B883}"/>
              </a:ext>
            </a:extLst>
          </p:cNvPr>
          <p:cNvSpPr>
            <a:spLocks noGrp="1"/>
          </p:cNvSpPr>
          <p:nvPr>
            <p:ph type="title"/>
          </p:nvPr>
        </p:nvSpPr>
        <p:spPr>
          <a:xfrm>
            <a:off x="7204306" y="817137"/>
            <a:ext cx="4192166" cy="1527048"/>
          </a:xfrm>
        </p:spPr>
        <p:txBody>
          <a:bodyPr anchor="b">
            <a:normAutofit/>
          </a:bodyPr>
          <a:lstStyle/>
          <a:p>
            <a:r>
              <a:rPr lang="en-US"/>
              <a:t>Resilience in Dreams</a:t>
            </a:r>
          </a:p>
        </p:txBody>
      </p:sp>
      <p:pic>
        <p:nvPicPr>
          <p:cNvPr id="5" name="Content Placeholder 4" descr="Light rays emitting from a sun like center.">
            <a:extLst>
              <a:ext uri="{FF2B5EF4-FFF2-40B4-BE49-F238E27FC236}">
                <a16:creationId xmlns:a16="http://schemas.microsoft.com/office/drawing/2014/main" id="{C438D3DA-D503-45A1-BC06-DE5B9092C85A}"/>
              </a:ext>
            </a:extLst>
          </p:cNvPr>
          <p:cNvPicPr>
            <a:picLocks noGrp="1" noChangeAspect="1"/>
          </p:cNvPicPr>
          <p:nvPr>
            <p:ph type="pic" sz="quarter" idx="18"/>
          </p:nvPr>
        </p:nvPicPr>
        <p:blipFill>
          <a:blip r:embed="rId3"/>
          <a:srcRect l="18261" r="19630" b="-2"/>
          <a:stretch>
            <a:fillRect/>
          </a:stretch>
        </p:blipFill>
        <p:spPr>
          <a:xfrm>
            <a:off x="349839" y="361188"/>
            <a:ext cx="6272784" cy="6135624"/>
          </a:xfrm>
          <a:prstGeom prst="rect">
            <a:avLst/>
          </a:prstGeom>
          <a:noFill/>
        </p:spPr>
      </p:pic>
      <p:sp>
        <p:nvSpPr>
          <p:cNvPr id="4" name="Content Placeholder 3">
            <a:extLst>
              <a:ext uri="{FF2B5EF4-FFF2-40B4-BE49-F238E27FC236}">
                <a16:creationId xmlns:a16="http://schemas.microsoft.com/office/drawing/2014/main" id="{80D4ADFD-D316-AD0C-8029-0941C200E24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spcBef>
                <a:spcPts val="2500"/>
              </a:spcBef>
              <a:buFont typeface="Arial" panose="020B0604020202020204" pitchFamily="34" charset="0"/>
              <a:buNone/>
            </a:pPr>
            <a:r>
              <a:rPr lang="en-US" b="1"/>
              <a:t>Power of Imagination</a:t>
            </a:r>
          </a:p>
          <a:p>
            <a:pPr marL="0" lvl="1" indent="0">
              <a:buFont typeface="Arial" panose="020B0604020202020204" pitchFamily="34" charset="0"/>
              <a:buNone/>
            </a:pPr>
            <a:r>
              <a:t>Imagination fuels resilience by allowing us to envision hope beyond present difficulties.</a:t>
            </a:r>
            <a:endParaRPr lang="en-US"/>
          </a:p>
          <a:p>
            <a:pPr marL="0" indent="0">
              <a:spcBef>
                <a:spcPts val="2500"/>
              </a:spcBef>
              <a:buFont typeface="Arial" panose="020B0604020202020204" pitchFamily="34" charset="0"/>
              <a:buNone/>
            </a:pPr>
            <a:r>
              <a:rPr lang="en-US" b="1"/>
              <a:t>Dreams as Refuge</a:t>
            </a:r>
          </a:p>
          <a:p>
            <a:pPr marL="0" lvl="1" indent="0">
              <a:buFont typeface="Arial" panose="020B0604020202020204" pitchFamily="34" charset="0"/>
              <a:buNone/>
            </a:pPr>
            <a:r>
              <a:t>Dreams serve as a refuge and guiding light during times of despair and challenge.</a:t>
            </a:r>
            <a:endParaRPr lang="en-US"/>
          </a:p>
          <a:p>
            <a:pPr marL="0" indent="0">
              <a:spcBef>
                <a:spcPts val="2500"/>
              </a:spcBef>
              <a:buFont typeface="Arial" panose="020B0604020202020204" pitchFamily="34" charset="0"/>
              <a:buNone/>
            </a:pPr>
            <a:r>
              <a:rPr lang="en-US" b="1"/>
              <a:t>Enduring Spirit</a:t>
            </a:r>
          </a:p>
          <a:p>
            <a:pPr marL="0" lvl="1" indent="0">
              <a:buFont typeface="Arial" panose="020B0604020202020204" pitchFamily="34" charset="0"/>
              <a:buNone/>
            </a:pPr>
            <a:r>
              <a:t>Resilience in dreaming reflects an enduring spirit that never ceases despite hardship.</a:t>
            </a:r>
            <a:endParaRPr lang="en-US"/>
          </a:p>
        </p:txBody>
      </p:sp>
    </p:spTree>
    <p:extLst>
      <p:ext uri="{BB962C8B-B14F-4D97-AF65-F5344CB8AC3E}">
        <p14:creationId xmlns:p14="http://schemas.microsoft.com/office/powerpoint/2010/main" val="3816096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75E7-4651-BF24-B559-FF97983B3CAD}"/>
              </a:ext>
            </a:extLst>
          </p:cNvPr>
          <p:cNvSpPr>
            <a:spLocks noGrp="1"/>
          </p:cNvSpPr>
          <p:nvPr>
            <p:ph type="title"/>
          </p:nvPr>
        </p:nvSpPr>
        <p:spPr>
          <a:xfrm>
            <a:off x="1474076" y="1359775"/>
            <a:ext cx="7909560" cy="4334256"/>
          </a:xfrm>
        </p:spPr>
        <p:txBody>
          <a:bodyPr anchor="b">
            <a:normAutofit/>
          </a:bodyPr>
          <a:lstStyle/>
          <a:p>
            <a:r>
              <a:rPr lang="en-US"/>
              <a:t>My Balance</a:t>
            </a:r>
          </a:p>
        </p:txBody>
      </p:sp>
    </p:spTree>
    <p:extLst>
      <p:ext uri="{BB962C8B-B14F-4D97-AF65-F5344CB8AC3E}">
        <p14:creationId xmlns:p14="http://schemas.microsoft.com/office/powerpoint/2010/main" val="3192042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D49B-E33A-6A87-EA2A-E942306929F4}"/>
              </a:ext>
            </a:extLst>
          </p:cNvPr>
          <p:cNvSpPr>
            <a:spLocks noGrp="1"/>
          </p:cNvSpPr>
          <p:nvPr>
            <p:ph type="title"/>
          </p:nvPr>
        </p:nvSpPr>
        <p:spPr>
          <a:xfrm>
            <a:off x="7204306" y="817137"/>
            <a:ext cx="4192166" cy="1527048"/>
          </a:xfrm>
        </p:spPr>
        <p:txBody>
          <a:bodyPr anchor="b">
            <a:normAutofit/>
          </a:bodyPr>
          <a:lstStyle/>
          <a:p>
            <a:r>
              <a:rPr lang="en-US"/>
              <a:t>Dreams vs Work</a:t>
            </a:r>
          </a:p>
        </p:txBody>
      </p:sp>
      <p:pic>
        <p:nvPicPr>
          <p:cNvPr id="5" name="Content Placeholder 4" descr="Chalk drawn human head shape with blank thought bubble on blackboard with copy space.">
            <a:extLst>
              <a:ext uri="{FF2B5EF4-FFF2-40B4-BE49-F238E27FC236}">
                <a16:creationId xmlns:a16="http://schemas.microsoft.com/office/drawing/2014/main" id="{AD7D987D-8C2C-4C03-8FEE-F902EEA7C02D}"/>
              </a:ext>
            </a:extLst>
          </p:cNvPr>
          <p:cNvPicPr>
            <a:picLocks noGrp="1" noChangeAspect="1"/>
          </p:cNvPicPr>
          <p:nvPr>
            <p:ph type="pic" sz="quarter" idx="18"/>
          </p:nvPr>
        </p:nvPicPr>
        <p:blipFill>
          <a:blip r:embed="rId3"/>
          <a:srcRect l="29521" r="2237" b="1"/>
          <a:stretch>
            <a:fillRect/>
          </a:stretch>
        </p:blipFill>
        <p:spPr>
          <a:xfrm>
            <a:off x="349839" y="361188"/>
            <a:ext cx="6272784" cy="6135624"/>
          </a:xfrm>
          <a:prstGeom prst="rect">
            <a:avLst/>
          </a:prstGeom>
          <a:noFill/>
        </p:spPr>
      </p:pic>
      <p:sp>
        <p:nvSpPr>
          <p:cNvPr id="4" name="Content Placeholder 3">
            <a:extLst>
              <a:ext uri="{FF2B5EF4-FFF2-40B4-BE49-F238E27FC236}">
                <a16:creationId xmlns:a16="http://schemas.microsoft.com/office/drawing/2014/main" id="{586E1DA9-E0CE-90DC-5DD5-FB0ED7D7DBB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lnSpc>
                <a:spcPct val="90000"/>
              </a:lnSpc>
              <a:spcBef>
                <a:spcPts val="2500"/>
              </a:spcBef>
              <a:buFont typeface="Arial" panose="020B0604020202020204" pitchFamily="34" charset="0"/>
              <a:buNone/>
            </a:pPr>
            <a:r>
              <a:rPr lang="en-US" b="1"/>
              <a:t>Value of Dreams</a:t>
            </a:r>
          </a:p>
          <a:p>
            <a:pPr marL="0" lvl="1" indent="0">
              <a:lnSpc>
                <a:spcPct val="90000"/>
              </a:lnSpc>
              <a:buFont typeface="Arial" panose="020B0604020202020204" pitchFamily="34" charset="0"/>
              <a:buNone/>
            </a:pPr>
            <a:r>
              <a:t>Dreams fuel passion, inspire thoughts, and shape one’s worldview as essential parts of being.</a:t>
            </a:r>
            <a:endParaRPr lang="en-US"/>
          </a:p>
          <a:p>
            <a:pPr marL="0" indent="0">
              <a:lnSpc>
                <a:spcPct val="90000"/>
              </a:lnSpc>
              <a:spcBef>
                <a:spcPts val="2500"/>
              </a:spcBef>
              <a:buFont typeface="Arial" panose="020B0604020202020204" pitchFamily="34" charset="0"/>
              <a:buNone/>
            </a:pPr>
            <a:r>
              <a:rPr lang="en-US" b="1"/>
              <a:t>Work and Productivity</a:t>
            </a:r>
          </a:p>
          <a:p>
            <a:pPr marL="0" lvl="1" indent="0">
              <a:lnSpc>
                <a:spcPct val="90000"/>
              </a:lnSpc>
              <a:buFont typeface="Arial" panose="020B0604020202020204" pitchFamily="34" charset="0"/>
              <a:buNone/>
            </a:pPr>
            <a:r>
              <a:t>Work often measures success by productivity and routine but may limit emotional depth and creativity.</a:t>
            </a:r>
            <a:endParaRPr lang="en-US"/>
          </a:p>
          <a:p>
            <a:pPr marL="0" indent="0">
              <a:lnSpc>
                <a:spcPct val="90000"/>
              </a:lnSpc>
              <a:spcBef>
                <a:spcPts val="2500"/>
              </a:spcBef>
              <a:buFont typeface="Arial" panose="020B0604020202020204" pitchFamily="34" charset="0"/>
              <a:buNone/>
            </a:pPr>
            <a:r>
              <a:rPr lang="en-US" b="1"/>
              <a:t>Authentic Living</a:t>
            </a:r>
          </a:p>
          <a:p>
            <a:pPr marL="0" lvl="1" indent="0">
              <a:lnSpc>
                <a:spcPct val="90000"/>
              </a:lnSpc>
              <a:buFont typeface="Arial" panose="020B0604020202020204" pitchFamily="34" charset="0"/>
              <a:buNone/>
            </a:pPr>
            <a:r>
              <a:t>Embracing balance between dreams and work enables authentic living beyond societal expectations.</a:t>
            </a:r>
            <a:endParaRPr lang="en-US"/>
          </a:p>
        </p:txBody>
      </p:sp>
    </p:spTree>
    <p:extLst>
      <p:ext uri="{BB962C8B-B14F-4D97-AF65-F5344CB8AC3E}">
        <p14:creationId xmlns:p14="http://schemas.microsoft.com/office/powerpoint/2010/main" val="393086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DED5E-B0BF-0D77-61C1-B262D8D3004D}"/>
              </a:ext>
            </a:extLst>
          </p:cNvPr>
          <p:cNvSpPr>
            <a:spLocks noGrp="1"/>
          </p:cNvSpPr>
          <p:nvPr>
            <p:ph type="title"/>
          </p:nvPr>
        </p:nvSpPr>
        <p:spPr>
          <a:xfrm>
            <a:off x="1474076" y="1359775"/>
            <a:ext cx="7909560" cy="4334256"/>
          </a:xfrm>
        </p:spPr>
        <p:txBody>
          <a:bodyPr anchor="b">
            <a:normAutofit/>
          </a:bodyPr>
          <a:lstStyle/>
          <a:p>
            <a:r>
              <a:rPr lang="en-US"/>
              <a:t>My Belief</a:t>
            </a:r>
          </a:p>
        </p:txBody>
      </p:sp>
    </p:spTree>
    <p:extLst>
      <p:ext uri="{BB962C8B-B14F-4D97-AF65-F5344CB8AC3E}">
        <p14:creationId xmlns:p14="http://schemas.microsoft.com/office/powerpoint/2010/main" val="17531278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A410-8C9B-6EF6-18A4-461A59D67DD6}"/>
              </a:ext>
            </a:extLst>
          </p:cNvPr>
          <p:cNvSpPr>
            <a:spLocks noGrp="1"/>
          </p:cNvSpPr>
          <p:nvPr>
            <p:ph type="title"/>
          </p:nvPr>
        </p:nvSpPr>
        <p:spPr>
          <a:xfrm>
            <a:off x="612648" y="599599"/>
            <a:ext cx="4672584" cy="1453896"/>
          </a:xfrm>
        </p:spPr>
        <p:txBody>
          <a:bodyPr anchor="t">
            <a:normAutofit/>
          </a:bodyPr>
          <a:lstStyle/>
          <a:p>
            <a:r>
              <a:rPr lang="en-US"/>
              <a:t>Modern Luxury</a:t>
            </a:r>
          </a:p>
        </p:txBody>
      </p:sp>
      <p:pic>
        <p:nvPicPr>
          <p:cNvPr id="5" name="Content Placeholder 4" descr="A silhouette of rocks stacked on a log, after sunset, with mountains and ocean in the background.">
            <a:extLst>
              <a:ext uri="{FF2B5EF4-FFF2-40B4-BE49-F238E27FC236}">
                <a16:creationId xmlns:a16="http://schemas.microsoft.com/office/drawing/2014/main" id="{0DE78080-AAFD-41C6-B0FE-DC158134BD57}"/>
              </a:ext>
            </a:extLst>
          </p:cNvPr>
          <p:cNvPicPr>
            <a:picLocks noGrp="1" noChangeAspect="1"/>
          </p:cNvPicPr>
          <p:nvPr>
            <p:ph type="pic" sz="quarter" idx="15"/>
          </p:nvPr>
        </p:nvPicPr>
        <p:blipFill>
          <a:blip r:embed="rId3"/>
          <a:srcRect l="9058" r="3" b="3"/>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C333E322-4701-D146-FA64-BC55672CEA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Clarity of Mind</a:t>
            </a:r>
          </a:p>
          <a:p>
            <a:pPr marL="0" lvl="1" indent="0">
              <a:buFont typeface="Arial" panose="020B0604020202020204" pitchFamily="34" charset="0"/>
              <a:buNone/>
            </a:pPr>
            <a:r>
              <a:t>Clear thinking helps navigate life with purpose amidst chaos and distractions.</a:t>
            </a:r>
            <a:endParaRPr lang="en-US"/>
          </a:p>
          <a:p>
            <a:pPr marL="0" indent="0">
              <a:spcBef>
                <a:spcPts val="2500"/>
              </a:spcBef>
              <a:buFont typeface="Arial" panose="020B0604020202020204" pitchFamily="34" charset="0"/>
              <a:buNone/>
            </a:pPr>
            <a:r>
              <a:rPr lang="en-US" b="1"/>
              <a:t>Deep Restful Sleep</a:t>
            </a:r>
          </a:p>
          <a:p>
            <a:pPr marL="0" lvl="1" indent="0">
              <a:buFont typeface="Arial" panose="020B0604020202020204" pitchFamily="34" charset="0"/>
              <a:buNone/>
            </a:pPr>
            <a:r>
              <a:t>Deep sleep rejuvenates the soul and is essential for well-being.</a:t>
            </a:r>
            <a:endParaRPr lang="en-US"/>
          </a:p>
          <a:p>
            <a:pPr marL="0" indent="0">
              <a:spcBef>
                <a:spcPts val="2500"/>
              </a:spcBef>
              <a:buFont typeface="Arial" panose="020B0604020202020204" pitchFamily="34" charset="0"/>
              <a:buNone/>
            </a:pPr>
            <a:r>
              <a:rPr lang="en-US" b="1"/>
              <a:t>Slow, Mindful Movement</a:t>
            </a:r>
          </a:p>
          <a:p>
            <a:pPr marL="0" lvl="1" indent="0">
              <a:buFont typeface="Arial" panose="020B0604020202020204" pitchFamily="34" charset="0"/>
              <a:buNone/>
            </a:pPr>
            <a:r>
              <a:t>Moving slowly fosters presence and mindfulness in daily life.</a:t>
            </a:r>
            <a:endParaRPr lang="en-US"/>
          </a:p>
          <a:p>
            <a:pPr marL="0" indent="0">
              <a:spcBef>
                <a:spcPts val="2500"/>
              </a:spcBef>
              <a:buFont typeface="Arial" panose="020B0604020202020204" pitchFamily="34" charset="0"/>
              <a:buNone/>
            </a:pPr>
            <a:r>
              <a:rPr lang="en-US" b="1"/>
              <a:t>Quiet, Nurturing Love</a:t>
            </a:r>
          </a:p>
          <a:p>
            <a:pPr marL="0" lvl="1" indent="0">
              <a:buFont typeface="Arial" panose="020B0604020202020204" pitchFamily="34" charset="0"/>
              <a:buNone/>
            </a:pPr>
            <a:r>
              <a:t>Quiet love nurtures relationships and fosters intimacy and grace.</a:t>
            </a:r>
            <a:endParaRPr lang="en-US"/>
          </a:p>
        </p:txBody>
      </p:sp>
    </p:spTree>
    <p:extLst>
      <p:ext uri="{BB962C8B-B14F-4D97-AF65-F5344CB8AC3E}">
        <p14:creationId xmlns:p14="http://schemas.microsoft.com/office/powerpoint/2010/main" val="1795616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E352-5095-B786-4622-1FD4F965A5B7}"/>
              </a:ext>
            </a:extLst>
          </p:cNvPr>
          <p:cNvSpPr>
            <a:spLocks noGrp="1"/>
          </p:cNvSpPr>
          <p:nvPr>
            <p:ph type="title"/>
          </p:nvPr>
        </p:nvSpPr>
        <p:spPr>
          <a:xfrm>
            <a:off x="1474076" y="1359775"/>
            <a:ext cx="7909560" cy="4334256"/>
          </a:xfrm>
        </p:spPr>
        <p:txBody>
          <a:bodyPr anchor="b">
            <a:normAutofit/>
          </a:bodyPr>
          <a:lstStyle/>
          <a:p>
            <a:r>
              <a:rPr lang="en-US"/>
              <a:t>Closing Thoughts</a:t>
            </a:r>
          </a:p>
        </p:txBody>
      </p:sp>
    </p:spTree>
    <p:extLst>
      <p:ext uri="{BB962C8B-B14F-4D97-AF65-F5344CB8AC3E}">
        <p14:creationId xmlns:p14="http://schemas.microsoft.com/office/powerpoint/2010/main" val="3439402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8AAC-66A3-A388-80EF-F9F0E82D1CAF}"/>
              </a:ext>
            </a:extLst>
          </p:cNvPr>
          <p:cNvSpPr>
            <a:spLocks noGrp="1"/>
          </p:cNvSpPr>
          <p:nvPr>
            <p:ph type="title"/>
          </p:nvPr>
        </p:nvSpPr>
        <p:spPr>
          <a:xfrm>
            <a:off x="612648" y="599599"/>
            <a:ext cx="4672584" cy="1453896"/>
          </a:xfrm>
        </p:spPr>
        <p:txBody>
          <a:bodyPr anchor="t">
            <a:normAutofit/>
          </a:bodyPr>
          <a:lstStyle/>
          <a:p>
            <a:r>
              <a:rPr lang="en-US"/>
              <a:t>Embracing Absurdity</a:t>
            </a:r>
          </a:p>
        </p:txBody>
      </p:sp>
      <p:pic>
        <p:nvPicPr>
          <p:cNvPr id="5" name="Content Placeholder 4" descr="Abstract Pattern Bright Gradient Marbled Background">
            <a:extLst>
              <a:ext uri="{FF2B5EF4-FFF2-40B4-BE49-F238E27FC236}">
                <a16:creationId xmlns:a16="http://schemas.microsoft.com/office/drawing/2014/main" id="{6037A4E2-AB6B-467E-86FD-9519B9F593DF}"/>
              </a:ext>
            </a:extLst>
          </p:cNvPr>
          <p:cNvPicPr>
            <a:picLocks noGrp="1" noChangeAspect="1"/>
          </p:cNvPicPr>
          <p:nvPr>
            <p:ph type="pic" sz="quarter" idx="15"/>
          </p:nvPr>
        </p:nvPicPr>
        <p:blipFill>
          <a:blip r:embed="rId3"/>
          <a:srcRect l="1462" r="13638"/>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BE3217C5-039A-9FC9-6CCC-6A9703C3687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Acceptance of Life's Absurdity</a:t>
            </a:r>
          </a:p>
          <a:p>
            <a:pPr marL="0" lvl="1" indent="0">
              <a:buFont typeface="Arial" panose="020B0604020202020204" pitchFamily="34" charset="0"/>
              <a:buNone/>
            </a:pPr>
            <a:r>
              <a:t>Embracing life's unpredictability brings joy and meaning despite the chaos and challenges.</a:t>
            </a:r>
            <a:endParaRPr lang="en-US"/>
          </a:p>
          <a:p>
            <a:pPr marL="0" indent="0">
              <a:spcBef>
                <a:spcPts val="2500"/>
              </a:spcBef>
              <a:buFont typeface="Arial" panose="020B0604020202020204" pitchFamily="34" charset="0"/>
              <a:buNone/>
            </a:pPr>
            <a:r>
              <a:rPr lang="en-US" b="1"/>
              <a:t>Guided by Dreams and Love</a:t>
            </a:r>
          </a:p>
          <a:p>
            <a:pPr marL="0" lvl="1" indent="0">
              <a:buFont typeface="Arial" panose="020B0604020202020204" pitchFamily="34" charset="0"/>
              <a:buNone/>
            </a:pPr>
            <a:r>
              <a:t>Dreams and quiet love provide guidance and comfort in navigating life's madness.</a:t>
            </a:r>
            <a:endParaRPr lang="en-US"/>
          </a:p>
          <a:p>
            <a:pPr marL="0" indent="0">
              <a:spcBef>
                <a:spcPts val="2500"/>
              </a:spcBef>
              <a:buFont typeface="Arial" panose="020B0604020202020204" pitchFamily="34" charset="0"/>
              <a:buNone/>
            </a:pPr>
            <a:r>
              <a:rPr lang="en-US" b="1"/>
              <a:t>Journey of Introspection and Resilience</a:t>
            </a:r>
          </a:p>
          <a:p>
            <a:pPr marL="0" lvl="1" indent="0">
              <a:buFont typeface="Arial" panose="020B0604020202020204" pitchFamily="34" charset="0"/>
              <a:buNone/>
            </a:pPr>
            <a:r>
              <a:t>The personal journey involves introspection, resilience, and poetic self-expression.</a:t>
            </a:r>
            <a:endParaRPr lang="en-US"/>
          </a:p>
          <a:p>
            <a:pPr marL="0" indent="0">
              <a:spcBef>
                <a:spcPts val="2500"/>
              </a:spcBef>
              <a:buFont typeface="Arial" panose="020B0604020202020204" pitchFamily="34" charset="0"/>
              <a:buNone/>
            </a:pPr>
            <a:r>
              <a:rPr lang="en-US" b="1"/>
              <a:t>Inspiration for Authentic Living</a:t>
            </a:r>
          </a:p>
          <a:p>
            <a:pPr marL="0" lvl="1" indent="0">
              <a:buFont typeface="Arial" panose="020B0604020202020204" pitchFamily="34" charset="0"/>
              <a:buNone/>
            </a:pPr>
            <a:r>
              <a:t>Sharing this journey inspires others to dream, love, and live authentically amid absurdity.</a:t>
            </a:r>
            <a:endParaRPr lang="en-US"/>
          </a:p>
        </p:txBody>
      </p:sp>
    </p:spTree>
    <p:extLst>
      <p:ext uri="{BB962C8B-B14F-4D97-AF65-F5344CB8AC3E}">
        <p14:creationId xmlns:p14="http://schemas.microsoft.com/office/powerpoint/2010/main" val="1947799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185BFC-6E97-4C88-9034-F2A7ED1C005E}">
  <ds:schemaRefs>
    <ds:schemaRef ds:uri="http://purl.org/dc/terms/"/>
    <ds:schemaRef ds:uri="http://purl.org/dc/elements/1.1/"/>
    <ds:schemaRef ds:uri="http://schemas.microsoft.com/office/2006/documentManagement/types"/>
    <ds:schemaRef ds:uri="http://www.w3.org/XML/1998/namespace"/>
    <ds:schemaRef ds:uri="71af3243-3dd4-4a8d-8c0d-dd76da1f02a5"/>
    <ds:schemaRef ds:uri="230e9df3-be65-4c73-a93b-d1236ebd677e"/>
    <ds:schemaRef ds:uri="16c05727-aa75-4e4a-9b5f-8a80a1165891"/>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purl.org/dc/dcmitype/"/>
  </ds:schemaRefs>
</ds:datastoreItem>
</file>

<file path=customXml/itemProps2.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3.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10086</TotalTime>
  <Words>1288</Words>
  <Application>Microsoft Office PowerPoint</Application>
  <PresentationFormat>Widescreen</PresentationFormat>
  <Paragraphs>92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Playfair Display</vt:lpstr>
      <vt:lpstr>Raleway</vt:lpstr>
      <vt:lpstr>Classical academia</vt:lpstr>
      <vt:lpstr>About Me - A Cosmic Dreamer</vt:lpstr>
      <vt:lpstr>Introduction</vt:lpstr>
      <vt:lpstr>About Me</vt:lpstr>
      <vt:lpstr>Favorite Time</vt:lpstr>
      <vt:lpstr>Dusk and November</vt:lpstr>
      <vt:lpstr>Identity</vt:lpstr>
      <vt:lpstr>Cosmic Dread Lover</vt:lpstr>
      <vt:lpstr>Dream Philosophy</vt:lpstr>
      <vt:lpstr>Resilience in Dreams</vt:lpstr>
      <vt:lpstr>My Balance</vt:lpstr>
      <vt:lpstr>Dreams vs Work</vt:lpstr>
      <vt:lpstr>My Belief</vt:lpstr>
      <vt:lpstr>Modern Luxury</vt:lpstr>
      <vt:lpstr>Closing Thoughts</vt:lpstr>
      <vt:lpstr>Embracing Absurdity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Arka Provo Pal</cp:lastModifiedBy>
  <cp:revision>4</cp:revision>
  <dcterms:created xsi:type="dcterms:W3CDTF">2024-06-26T20:20:27Z</dcterms:created>
  <dcterms:modified xsi:type="dcterms:W3CDTF">2025-11-14T03:39:33Z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